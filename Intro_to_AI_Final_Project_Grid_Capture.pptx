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22A397E7-BF60-45B2-84C7-B074B76C3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robot hand touching a network&#10;&#10;AI-generated content may be incorrect.">
            <a:extLst>
              <a:ext uri="{FF2B5EF4-FFF2-40B4-BE49-F238E27FC236}">
                <a16:creationId xmlns:a16="http://schemas.microsoft.com/office/drawing/2014/main" id="{A2219FC0-291B-2AFC-02A5-F27119EA17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25716" r="16555" b="-1"/>
          <a:stretch>
            <a:fillRect/>
          </a:stretch>
        </p:blipFill>
        <p:spPr>
          <a:xfrm>
            <a:off x="3212926" y="10"/>
            <a:ext cx="5931074" cy="6857992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6497" y="1115219"/>
            <a:ext cx="4129087" cy="2387600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Grid Capture Ultimate Edition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6497" y="3902075"/>
            <a:ext cx="4129087" cy="1655762"/>
          </a:xfrm>
        </p:spPr>
        <p:txBody>
          <a:bodyPr>
            <a:normAutofit/>
          </a:bodyPr>
          <a:lstStyle/>
          <a:p>
            <a:pPr algn="l"/>
            <a:r>
              <a:rPr lang="en-US" sz="1700">
                <a:solidFill>
                  <a:schemeClr val="bg1"/>
                </a:solidFill>
              </a:rPr>
              <a:t>Professor: Vahid Behzadan</a:t>
            </a:r>
          </a:p>
          <a:p>
            <a:pPr algn="l"/>
            <a:endParaRPr lang="en-US" sz="1700">
              <a:solidFill>
                <a:schemeClr val="bg1"/>
              </a:solidFill>
            </a:endParaRPr>
          </a:p>
          <a:p>
            <a:pPr algn="l"/>
            <a:endParaRPr lang="en-US" sz="1700">
              <a:solidFill>
                <a:schemeClr val="bg1"/>
              </a:solidFill>
            </a:endParaRPr>
          </a:p>
          <a:p>
            <a:pPr algn="l"/>
            <a:r>
              <a:rPr lang="en-US" sz="1700">
                <a:solidFill>
                  <a:schemeClr val="bg1"/>
                </a:solidFill>
              </a:rPr>
              <a:t>Team Members: Alima Aqsai, </a:t>
            </a:r>
            <a:r>
              <a:rPr lang="en-US" sz="1700">
                <a:solidFill>
                  <a:schemeClr val="bg1"/>
                </a:solidFill>
                <a:cs typeface="Times New Roman" panose="02020603050405020304" pitchFamily="18" charset="0"/>
              </a:rPr>
              <a:t>Bilva Akshitha Kandoori</a:t>
            </a:r>
            <a:endParaRPr lang="en-US" sz="1700" dirty="0">
              <a:solidFill>
                <a:schemeClr val="bg1"/>
              </a:solidFill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6438" y="3681408"/>
            <a:ext cx="895111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55"/>
    </mc:Choice>
    <mc:Fallback xmlns="">
      <p:transition spd="slow" advTm="665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350" y="496247"/>
            <a:ext cx="4186915" cy="1624520"/>
          </a:xfrm>
        </p:spPr>
        <p:txBody>
          <a:bodyPr anchor="ctr">
            <a:normAutofit/>
          </a:bodyPr>
          <a:lstStyle/>
          <a:p>
            <a:r>
              <a:rPr lang="en-US" sz="3500" dirty="0"/>
              <a:t>Project Description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 fontScale="92500" lnSpcReduction="10000"/>
          </a:bodyPr>
          <a:lstStyle/>
          <a:p>
            <a:endParaRPr lang="en-US" sz="1700" dirty="0"/>
          </a:p>
          <a:p>
            <a:r>
              <a:rPr lang="en-US" sz="1700" dirty="0"/>
              <a:t>5x5 grid-based strategy game</a:t>
            </a:r>
          </a:p>
          <a:p>
            <a:r>
              <a:rPr lang="en-US" sz="1700" dirty="0"/>
              <a:t>Two players take turns placing pieces on empty cells </a:t>
            </a:r>
          </a:p>
          <a:p>
            <a:r>
              <a:rPr lang="en-US" sz="1700" dirty="0"/>
              <a:t>Capturing occurs when a newly placed piece is adjacent to opponent pieces (they convert to the player’s color)</a:t>
            </a:r>
          </a:p>
          <a:p>
            <a:r>
              <a:rPr lang="en-US" sz="1700" dirty="0"/>
              <a:t>The game ends when all cells are filled</a:t>
            </a:r>
          </a:p>
          <a:p>
            <a:r>
              <a:rPr lang="en-US" sz="1700" dirty="0"/>
              <a:t>The winner is the player controlling the most pieces at the end </a:t>
            </a:r>
          </a:p>
          <a:p>
            <a:r>
              <a:rPr lang="en-US" sz="1700" dirty="0"/>
              <a:t>Player 1 uses blue pieces; player 2 uses red pieces </a:t>
            </a:r>
          </a:p>
        </p:txBody>
      </p:sp>
      <p:pic>
        <p:nvPicPr>
          <p:cNvPr id="5" name="Picture 4" descr="3D box skeletons">
            <a:extLst>
              <a:ext uri="{FF2B5EF4-FFF2-40B4-BE49-F238E27FC236}">
                <a16:creationId xmlns:a16="http://schemas.microsoft.com/office/drawing/2014/main" id="{911132AD-6424-2E9F-AB00-D83ADC5776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41" r="26008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00"/>
    </mc:Choice>
    <mc:Fallback xmlns="">
      <p:transition spd="slow" advTm="197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E1E866-25FD-3A2A-1AD4-DAE2A83F7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122" y="501651"/>
            <a:ext cx="4076849" cy="1624520"/>
          </a:xfrm>
        </p:spPr>
        <p:txBody>
          <a:bodyPr anchor="ctr">
            <a:normAutofit/>
          </a:bodyPr>
          <a:lstStyle/>
          <a:p>
            <a:r>
              <a:rPr lang="en-US" sz="3500" dirty="0"/>
              <a:t>PROJECT 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65895F-A7C8-C4F0-88C7-9A2A7AF1CE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1351" y="2743200"/>
            <a:ext cx="3485179" cy="36131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Build a fully functional strategy game with correct capture mechanics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Implement AI with multiple play styles and difficulty options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Enable quick evaluation of board state and possible moves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Create a clean, intuitive, and user-friendly interface</a:t>
            </a:r>
          </a:p>
        </p:txBody>
      </p:sp>
      <p:pic>
        <p:nvPicPr>
          <p:cNvPr id="6" name="Picture 5" descr="A group of wooden blocks with figures in the middle&#10;&#10;AI-generated content may be incorrect.">
            <a:extLst>
              <a:ext uri="{FF2B5EF4-FFF2-40B4-BE49-F238E27FC236}">
                <a16:creationId xmlns:a16="http://schemas.microsoft.com/office/drawing/2014/main" id="{DB314EB6-39B4-072E-2B02-53BCD952EF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76" r="2684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936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593"/>
    </mc:Choice>
    <mc:Fallback xmlns="">
      <p:transition spd="slow" advTm="2259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 dirty="0"/>
              <a:t>Approach (Tools &amp; Techniques)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onnsiteX0" fmla="*/ 0 w 2606040"/>
              <a:gd name="connsiteY0" fmla="*/ 0 h 18288"/>
              <a:gd name="connsiteX1" fmla="*/ 625450 w 2606040"/>
              <a:gd name="connsiteY1" fmla="*/ 0 h 18288"/>
              <a:gd name="connsiteX2" fmla="*/ 1224839 w 2606040"/>
              <a:gd name="connsiteY2" fmla="*/ 0 h 18288"/>
              <a:gd name="connsiteX3" fmla="*/ 1824228 w 2606040"/>
              <a:gd name="connsiteY3" fmla="*/ 0 h 18288"/>
              <a:gd name="connsiteX4" fmla="*/ 2606040 w 2606040"/>
              <a:gd name="connsiteY4" fmla="*/ 0 h 18288"/>
              <a:gd name="connsiteX5" fmla="*/ 2606040 w 2606040"/>
              <a:gd name="connsiteY5" fmla="*/ 18288 h 18288"/>
              <a:gd name="connsiteX6" fmla="*/ 1902409 w 2606040"/>
              <a:gd name="connsiteY6" fmla="*/ 18288 h 18288"/>
              <a:gd name="connsiteX7" fmla="*/ 1276960 w 2606040"/>
              <a:gd name="connsiteY7" fmla="*/ 18288 h 18288"/>
              <a:gd name="connsiteX8" fmla="*/ 677570 w 2606040"/>
              <a:gd name="connsiteY8" fmla="*/ 18288 h 18288"/>
              <a:gd name="connsiteX9" fmla="*/ 0 w 2606040"/>
              <a:gd name="connsiteY9" fmla="*/ 18288 h 18288"/>
              <a:gd name="connsiteX10" fmla="*/ 0 w 260604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2872899"/>
            <a:ext cx="3989197" cy="3320668"/>
          </a:xfrm>
        </p:spPr>
        <p:txBody>
          <a:bodyPr>
            <a:normAutofit fontScale="92500" lnSpcReduction="20000"/>
          </a:bodyPr>
          <a:lstStyle/>
          <a:p>
            <a:endParaRPr lang="en-US" sz="1900" dirty="0"/>
          </a:p>
          <a:p>
            <a:r>
              <a:rPr lang="en-US" sz="1900" dirty="0" err="1"/>
              <a:t>FastAPI</a:t>
            </a:r>
            <a:r>
              <a:rPr lang="en-US" sz="1900" dirty="0"/>
              <a:t> for backend development </a:t>
            </a:r>
          </a:p>
          <a:p>
            <a:r>
              <a:rPr lang="en-US" sz="1900" dirty="0"/>
              <a:t>HTML, CSS, and JavaScript for the frontend interface</a:t>
            </a:r>
          </a:p>
          <a:p>
            <a:r>
              <a:rPr lang="en-US" sz="1900" dirty="0"/>
              <a:t>Minimax algorithm with heuristic-based decision making</a:t>
            </a:r>
          </a:p>
          <a:p>
            <a:r>
              <a:rPr lang="en-US" sz="1900" dirty="0"/>
              <a:t>AI strategies with a distinct playstyle “personalities”</a:t>
            </a:r>
          </a:p>
          <a:p>
            <a:r>
              <a:rPr lang="en-US" sz="1900" dirty="0"/>
              <a:t>A </a:t>
            </a:r>
            <a:r>
              <a:rPr lang="en-US" sz="1900" dirty="0" err="1"/>
              <a:t>GameState</a:t>
            </a:r>
            <a:r>
              <a:rPr lang="en-US" sz="1900" dirty="0"/>
              <a:t> system to manage rules, captures, and scoring </a:t>
            </a:r>
          </a:p>
          <a:p>
            <a:r>
              <a:rPr lang="en-US" sz="1900" dirty="0"/>
              <a:t>REST API endpoints for seamless gameplay communication </a:t>
            </a:r>
          </a:p>
        </p:txBody>
      </p:sp>
      <p:pic>
        <p:nvPicPr>
          <p:cNvPr id="5" name="Picture 4" descr="A finger pointing at a brain&#10;&#10;AI-generated content may be incorrect.">
            <a:extLst>
              <a:ext uri="{FF2B5EF4-FFF2-40B4-BE49-F238E27FC236}">
                <a16:creationId xmlns:a16="http://schemas.microsoft.com/office/drawing/2014/main" id="{0D7E0A12-1D96-91B8-478E-DDD609D37A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25" r="23360" b="-1"/>
          <a:stretch>
            <a:fillRect/>
          </a:stretch>
        </p:blipFill>
        <p:spPr>
          <a:xfrm>
            <a:off x="4470400" y="0"/>
            <a:ext cx="4672457" cy="685800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207"/>
    </mc:Choice>
    <mc:Fallback xmlns="">
      <p:transition spd="slow" advTm="4320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nt">
            <a:extLst>
              <a:ext uri="{FF2B5EF4-FFF2-40B4-BE49-F238E27FC236}">
                <a16:creationId xmlns:a16="http://schemas.microsoft.com/office/drawing/2014/main" id="{D380959B-464C-9ED8-C9EB-AB6FC997C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9086" y="8300"/>
            <a:ext cx="8224913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6B83858-ED7D-57B6-6CAA-83168807C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1" cy="6858000"/>
          </a:xfrm>
          <a:prstGeom prst="rect">
            <a:avLst/>
          </a:prstGeom>
          <a:ln>
            <a:noFill/>
          </a:ln>
          <a:effectLst>
            <a:outerShdw blurRad="317500" dist="127000" dir="2400000" sx="95000" sy="95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0082" y="526509"/>
            <a:ext cx="3277275" cy="989378"/>
          </a:xfrm>
        </p:spPr>
        <p:txBody>
          <a:bodyPr anchor="ctr">
            <a:normAutofit/>
          </a:bodyPr>
          <a:lstStyle/>
          <a:p>
            <a:r>
              <a:rPr lang="en-US" sz="3500" dirty="0"/>
              <a:t>Deliverables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97FFD4-A8B9-3D4D-1623-7BE467E46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765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139700" dir="300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robot hand touching a network&#10;&#10;AI-generated content may be incorrect.">
            <a:extLst>
              <a:ext uri="{FF2B5EF4-FFF2-40B4-BE49-F238E27FC236}">
                <a16:creationId xmlns:a16="http://schemas.microsoft.com/office/drawing/2014/main" id="{930BB9EE-B90D-3040-E535-3EC3D2B936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893" r="24892" b="-1"/>
          <a:stretch>
            <a:fillRect/>
          </a:stretch>
        </p:blipFill>
        <p:spPr>
          <a:xfrm>
            <a:off x="576654" y="1515887"/>
            <a:ext cx="2904342" cy="3860733"/>
          </a:xfrm>
          <a:prstGeom prst="rect">
            <a:avLst/>
          </a:prstGeom>
        </p:spPr>
      </p:pic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208523" y="2016667"/>
            <a:ext cx="4168733" cy="3972088"/>
          </a:xfrm>
        </p:spPr>
        <p:txBody>
          <a:bodyPr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dirty="0">
                <a:sym typeface="Times New Roman" panose="02020603050405020304" pitchFamily="18" charset="0"/>
              </a:rPr>
              <a:t>In-depth description of Grid Capture Ultimate game implementation </a:t>
            </a:r>
          </a:p>
          <a:p>
            <a:pPr>
              <a:lnSpc>
                <a:spcPct val="120000"/>
              </a:lnSpc>
            </a:pPr>
            <a:r>
              <a:rPr lang="en-US" sz="1800" dirty="0"/>
              <a:t>The game utilizes Python for AI algorithms and backend logic, while the frontend interface is built using HTML, CSS, and JavaScript.</a:t>
            </a:r>
            <a:endParaRPr lang="en-US" altLang="en-US" sz="1800" dirty="0">
              <a:sym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800" dirty="0"/>
              <a:t>A final written report and project presentation </a:t>
            </a:r>
          </a:p>
          <a:p>
            <a:pPr>
              <a:lnSpc>
                <a:spcPct val="120000"/>
              </a:lnSpc>
            </a:pPr>
            <a:r>
              <a:rPr lang="en-US" altLang="en-US" sz="1800" dirty="0">
                <a:sym typeface="Times New Roman" panose="02020603050405020304" pitchFamily="18" charset="0"/>
              </a:rPr>
              <a:t>Access the Python code and associated files via the GitHub repository ink.</a:t>
            </a:r>
          </a:p>
          <a:p>
            <a:pPr>
              <a:lnSpc>
                <a:spcPct val="120000"/>
              </a:lnSpc>
            </a:pPr>
            <a:r>
              <a:rPr lang="en-US" altLang="en-US" sz="1800" dirty="0">
                <a:sym typeface="Times New Roman" panose="02020603050405020304" pitchFamily="18" charset="0"/>
              </a:rPr>
              <a:t>YouTube video demonstrating the project’s implementation and detailed information slides</a:t>
            </a:r>
          </a:p>
          <a:p>
            <a:endParaRPr lang="en-US" sz="18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EA8FAC2-1E63-88FB-2AFA-EE4734FE160C}"/>
              </a:ext>
            </a:extLst>
          </p:cNvPr>
          <p:cNvSpPr txBox="1">
            <a:spLocks/>
          </p:cNvSpPr>
          <p:nvPr/>
        </p:nvSpPr>
        <p:spPr>
          <a:xfrm>
            <a:off x="4264066" y="4315978"/>
            <a:ext cx="4057649" cy="22287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971"/>
    </mc:Choice>
    <mc:Fallback xmlns="">
      <p:transition spd="slow" advTm="2097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Evaluation Methodology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endParaRPr sz="2400" dirty="0"/>
          </a:p>
          <a:p>
            <a:r>
              <a:rPr lang="en-US" sz="2400" dirty="0"/>
              <a:t>Evaluate AI performance across all difficulty levels </a:t>
            </a:r>
            <a:endParaRPr sz="2400" dirty="0"/>
          </a:p>
          <a:p>
            <a:r>
              <a:rPr lang="en-US" sz="2400" dirty="0"/>
              <a:t>Conduct multiple test games to ensure balanced and fair outcomes.</a:t>
            </a:r>
            <a:endParaRPr sz="2400" dirty="0"/>
          </a:p>
          <a:p>
            <a:r>
              <a:rPr lang="en-US" sz="2400" dirty="0"/>
              <a:t>Verify that capture mechanics and scoring rules are applied consistently.</a:t>
            </a:r>
            <a:endParaRPr sz="2400" dirty="0"/>
          </a:p>
          <a:p>
            <a:r>
              <a:rPr lang="en-US" sz="2400" dirty="0"/>
              <a:t>Validate the accuracy of board state updates and system responses </a:t>
            </a:r>
            <a:endParaRPr sz="2400" dirty="0"/>
          </a:p>
          <a:p>
            <a:r>
              <a:rPr lang="en-US" sz="2400" dirty="0"/>
              <a:t>Assess the overall user experience and level of player engagement </a:t>
            </a:r>
            <a:endParaRPr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630"/>
    </mc:Choice>
    <mc:Fallback xmlns="">
      <p:transition spd="slow" advTm="3463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onnsiteX0" fmla="*/ 0 w 2606040"/>
              <a:gd name="connsiteY0" fmla="*/ 0 h 18288"/>
              <a:gd name="connsiteX1" fmla="*/ 625450 w 2606040"/>
              <a:gd name="connsiteY1" fmla="*/ 0 h 18288"/>
              <a:gd name="connsiteX2" fmla="*/ 1224839 w 2606040"/>
              <a:gd name="connsiteY2" fmla="*/ 0 h 18288"/>
              <a:gd name="connsiteX3" fmla="*/ 1824228 w 2606040"/>
              <a:gd name="connsiteY3" fmla="*/ 0 h 18288"/>
              <a:gd name="connsiteX4" fmla="*/ 2606040 w 2606040"/>
              <a:gd name="connsiteY4" fmla="*/ 0 h 18288"/>
              <a:gd name="connsiteX5" fmla="*/ 2606040 w 2606040"/>
              <a:gd name="connsiteY5" fmla="*/ 18288 h 18288"/>
              <a:gd name="connsiteX6" fmla="*/ 1902409 w 2606040"/>
              <a:gd name="connsiteY6" fmla="*/ 18288 h 18288"/>
              <a:gd name="connsiteX7" fmla="*/ 1276960 w 2606040"/>
              <a:gd name="connsiteY7" fmla="*/ 18288 h 18288"/>
              <a:gd name="connsiteX8" fmla="*/ 677570 w 2606040"/>
              <a:gd name="connsiteY8" fmla="*/ 18288 h 18288"/>
              <a:gd name="connsiteX9" fmla="*/ 0 w 2606040"/>
              <a:gd name="connsiteY9" fmla="*/ 18288 h 18288"/>
              <a:gd name="connsiteX10" fmla="*/ 0 w 260604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8355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73AF57-6F48-E588-FC8D-51FFDDBA0C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70" r="45615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293</Words>
  <Application>Microsoft Office PowerPoint</Application>
  <PresentationFormat>On-screen Show (4:3)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Grid Capture Ultimate Edition</vt:lpstr>
      <vt:lpstr>Project Description </vt:lpstr>
      <vt:lpstr>PROJECT OBJECTIVES</vt:lpstr>
      <vt:lpstr>Approach (Tools &amp; Techniques)</vt:lpstr>
      <vt:lpstr>Deliverables</vt:lpstr>
      <vt:lpstr>Evaluation Methodology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Alima Aqsai</dc:creator>
  <cp:keywords/>
  <dc:description>generated using python-pptx</dc:description>
  <cp:lastModifiedBy>Aqsai, Alima</cp:lastModifiedBy>
  <cp:revision>5</cp:revision>
  <dcterms:created xsi:type="dcterms:W3CDTF">2013-01-27T09:14:16Z</dcterms:created>
  <dcterms:modified xsi:type="dcterms:W3CDTF">2025-12-10T17:02:35Z</dcterms:modified>
  <cp:category/>
</cp:coreProperties>
</file>